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03366"/>
                </a:solidFill>
              </a:rPr>
              <a:t>Automated Loan Approval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Implementation &amp; Business Insights</a:t>
            </a:r>
          </a:p>
          <a:p/>
          <a:p>
            <a:r>
              <a:t>Presented to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Transition from subjective, manual loan reviews to a standardized, data-driven approach.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Build a robust Machine Learning model to instantly predict if a loan application should be Approved or Rejected.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Minimize human bias and significantly reduce processing turnaround time.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Maintain strict risk management standards while identifying creditworthy applicants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Historical dataset of 4,000 loan applications.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Features include Demographic, Financial, and Loan-specific data: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Applicant &amp; Co-applicant Income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Loan Amount &amp; Term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Credit History (Crucial factor)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Education, Employment Type, Dependents, and Property Area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Target Variable: Loan_Status (Approved vs. Rejected)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Imbalanced Classes: ~84% Approved, ~16% Rejected.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Methodology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1. Exploratory Data Analysis (EDA): Analyzed feature distributions and relationships with the target variable.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2. Feature Engineering &amp; Scaling: Applied StandardScaler for numerical data (Income, Loan Amount).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3. Encoding: Used OrdinalEncoder and OneHotEncoder to convert categorical text (e.g., Education, Area) into mathematical formats.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4. Handling Imbalance (SMOTE): Generated synthetic data for rejected loans to prevent the model from becoming biased towards approvals.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5. Train/Test Split: Validated models on unseen data (20% of the dataset).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Model 1: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A baseline statistical model used to predict the probability of approval.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Key Findings from Feature Weights: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(+) Positive Credit History has the highest positive impact on approval.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(+) High Applicant Income increases odds of approval.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(-) High Loan Amount decreases odds of approval.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Performance: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Overall Accuracy: ~91.8%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F1 Score: 0.950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Model 2: Optimized Decision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A non-linear model that learns 'if-else' decision rules directly from data.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Hyperparameter Tuning (GridSearchCV):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Criterion: Entropy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Max Depth: 5 (Prevents the model from becoming too complex/overfitting)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Min Samples Leaf: 5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Why Decision Trees?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Highly interpretable for non-technical users.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Capable of providing the exact 'reason' for an approval or rejection.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Model Evaluation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600">
                <a:solidFill>
                  <a:srgbClr val="323232"/>
                </a:solidFill>
                <a:latin typeface="Courier New"/>
              </a:rPr>
              <a:t>Metric                 | Logistic Regression | Optimized Decision Tree</a:t>
            </a:r>
          </a:p>
          <a:p>
            <a:pPr/>
            <a:r>
              <a:rPr sz="1600">
                <a:solidFill>
                  <a:srgbClr val="323232"/>
                </a:solidFill>
                <a:latin typeface="Courier New"/>
              </a:rPr>
              <a:t>--------------------------------------------------------------------------------</a:t>
            </a:r>
          </a:p>
          <a:p>
            <a:pPr/>
            <a:r>
              <a:rPr sz="1600">
                <a:solidFill>
                  <a:srgbClr val="323232"/>
                </a:solidFill>
                <a:latin typeface="Courier New"/>
              </a:rPr>
              <a:t>Accuracy               | 91.8%               | 95.3%</a:t>
            </a:r>
          </a:p>
          <a:p>
            <a:pPr/>
            <a:r>
              <a:rPr sz="1600">
                <a:solidFill>
                  <a:srgbClr val="323232"/>
                </a:solidFill>
                <a:latin typeface="Courier New"/>
              </a:rPr>
              <a:t>Precision              | 97.7%               | 100.0%</a:t>
            </a:r>
          </a:p>
          <a:p>
            <a:pPr/>
            <a:r>
              <a:rPr sz="1600">
                <a:solidFill>
                  <a:srgbClr val="323232"/>
                </a:solidFill>
                <a:latin typeface="Courier New"/>
              </a:rPr>
              <a:t>Recall                 | 92.3%               | 94.4%</a:t>
            </a:r>
          </a:p>
          <a:p>
            <a:pPr/>
            <a:r>
              <a:rPr sz="1600">
                <a:solidFill>
                  <a:srgbClr val="323232"/>
                </a:solidFill>
                <a:latin typeface="Courier New"/>
              </a:rPr>
              <a:t>F1 Score               | 95.0%               | 97.1%</a:t>
            </a:r>
          </a:p>
          <a:p>
            <a:pPr/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Conclusion: The Optimized Decision Tree outperforms Logistic Regression across all metrics, making it the selected model for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03366"/>
                </a:solidFill>
                <a:latin typeface="Arial"/>
              </a:rPr>
              <a:t>Output &amp; Business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The model acts as an interactive Decision Support Tool for credit officers.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Capabilities: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Instant Prediction: Outputs 'Approve' or 'Reject' based on input data.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Confidence Score: Provides a percentage probability (e.g., 95% confident).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Transparency: Explains the decision logic (e.g., 'Rejected due to poor credit history').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Impact: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Risk-Tiered Routing: Fast-tracks safe applications.</a:t>
            </a:r>
          </a:p>
          <a:p>
            <a:pPr/>
            <a:r>
              <a:rPr sz="2200">
                <a:solidFill>
                  <a:srgbClr val="323232"/>
                </a:solidFill>
                <a:latin typeface="Arial"/>
              </a:rPr>
              <a:t>  • Targeted Manual Review: Flags risky applications for senior underwriters.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